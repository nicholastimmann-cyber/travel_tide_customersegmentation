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5" r:id="rId3"/>
    <p:sldId id="258" r:id="rId4"/>
    <p:sldId id="275" r:id="rId5"/>
    <p:sldId id="276" r:id="rId6"/>
    <p:sldId id="259" r:id="rId7"/>
    <p:sldId id="264" r:id="rId8"/>
    <p:sldId id="266" r:id="rId9"/>
    <p:sldId id="277" r:id="rId10"/>
    <p:sldId id="260" r:id="rId11"/>
    <p:sldId id="267" r:id="rId12"/>
    <p:sldId id="278" r:id="rId13"/>
    <p:sldId id="261" r:id="rId14"/>
    <p:sldId id="268" r:id="rId15"/>
    <p:sldId id="269" r:id="rId16"/>
    <p:sldId id="270" r:id="rId17"/>
    <p:sldId id="280" r:id="rId18"/>
    <p:sldId id="263" r:id="rId19"/>
    <p:sldId id="282" r:id="rId20"/>
    <p:sldId id="273" r:id="rId21"/>
    <p:sldId id="272" r:id="rId22"/>
    <p:sldId id="284" r:id="rId23"/>
    <p:sldId id="287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Money Spent per Flight €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1 </c:v>
                </c:pt>
                <c:pt idx="1">
                  <c:v>Group 2</c:v>
                </c:pt>
                <c:pt idx="2">
                  <c:v>Group 3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2058.1</c:v>
                </c:pt>
                <c:pt idx="1">
                  <c:v>128.1</c:v>
                </c:pt>
                <c:pt idx="2">
                  <c:v>367.1</c:v>
                </c:pt>
                <c:pt idx="3">
                  <c:v>419</c:v>
                </c:pt>
                <c:pt idx="4">
                  <c:v>427.3</c:v>
                </c:pt>
                <c:pt idx="5">
                  <c:v>433.7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A-4478-983F-B2E656AE6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</a:t>
            </a:r>
            <a:r>
              <a:rPr lang="en-US" baseline="0"/>
              <a:t> Money Spent €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1 </c:v>
                </c:pt>
                <c:pt idx="1">
                  <c:v>Group 2</c:v>
                </c:pt>
                <c:pt idx="2">
                  <c:v>Group 3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5690.5</c:v>
                </c:pt>
                <c:pt idx="1">
                  <c:v>941.8</c:v>
                </c:pt>
                <c:pt idx="2">
                  <c:v>6274.3</c:v>
                </c:pt>
                <c:pt idx="3">
                  <c:v>1878.3</c:v>
                </c:pt>
                <c:pt idx="4">
                  <c:v>2280.6</c:v>
                </c:pt>
                <c:pt idx="5">
                  <c:v>4461.8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CA-4478-983F-B2E656AE68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Flights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6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5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7.8</c:v>
                </c:pt>
                <c:pt idx="1">
                  <c:v>3.6</c:v>
                </c:pt>
                <c:pt idx="2">
                  <c:v>0.3</c:v>
                </c:pt>
                <c:pt idx="3">
                  <c:v>2.6</c:v>
                </c:pt>
                <c:pt idx="4">
                  <c:v>3.9</c:v>
                </c:pt>
                <c:pt idx="5">
                  <c:v>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69-4D48-8765-BD913DB1B3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Hotels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6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5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4</c:v>
                </c:pt>
                <c:pt idx="1">
                  <c:v>1.5</c:v>
                </c:pt>
                <c:pt idx="2">
                  <c:v>1</c:v>
                </c:pt>
                <c:pt idx="3">
                  <c:v>2.2999999999999998</c:v>
                </c:pt>
                <c:pt idx="4">
                  <c:v>2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8-42E8-A08A-9D828F255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Bookings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6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5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4.5</c:v>
                </c:pt>
                <c:pt idx="1">
                  <c:v>2.1</c:v>
                </c:pt>
                <c:pt idx="2">
                  <c:v>0.5</c:v>
                </c:pt>
                <c:pt idx="3">
                  <c:v>2.5</c:v>
                </c:pt>
                <c:pt idx="4">
                  <c:v>2.2000000000000002</c:v>
                </c:pt>
                <c:pt idx="5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38-42E8-A08A-9D828F2554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Number of Cancelled Trips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5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0.1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9-45A7-94D7-C7196E734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Avg.</a:t>
            </a:r>
            <a:r>
              <a:rPr lang="en-US" baseline="0"/>
              <a:t> Session Duration Min.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Number of flights
(Days)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5</c:v>
                </c:pt>
                <c:pt idx="1">
                  <c:v>Group 1 </c:v>
                </c:pt>
                <c:pt idx="2">
                  <c:v>Group 2</c:v>
                </c:pt>
                <c:pt idx="3">
                  <c:v>Group 3</c:v>
                </c:pt>
                <c:pt idx="4">
                  <c:v>Group 4 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244.9</c:v>
                </c:pt>
                <c:pt idx="1">
                  <c:v>107.5</c:v>
                </c:pt>
                <c:pt idx="2">
                  <c:v>95.9</c:v>
                </c:pt>
                <c:pt idx="3">
                  <c:v>107.2</c:v>
                </c:pt>
                <c:pt idx="4">
                  <c:v>109</c:v>
                </c:pt>
                <c:pt idx="5">
                  <c:v>139.6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9-45A7-94D7-C7196E7341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 Nights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9.1</c:v>
                </c:pt>
                <c:pt idx="1">
                  <c:v>6.5</c:v>
                </c:pt>
                <c:pt idx="2">
                  <c:v>5.5</c:v>
                </c:pt>
                <c:pt idx="3">
                  <c:v>2.9</c:v>
                </c:pt>
                <c:pt idx="4">
                  <c:v>3.5</c:v>
                </c:pt>
                <c:pt idx="5">
                  <c:v>3.3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Money spent per Hotel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5776.8</c:v>
                </c:pt>
                <c:pt idx="1">
                  <c:v>2056.5</c:v>
                </c:pt>
                <c:pt idx="2">
                  <c:v>918.1</c:v>
                </c:pt>
                <c:pt idx="3">
                  <c:v>1064.5999999999999</c:v>
                </c:pt>
                <c:pt idx="4">
                  <c:v>1440.1</c:v>
                </c:pt>
                <c:pt idx="5">
                  <c:v>2740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</a:t>
            </a:r>
            <a:r>
              <a:rPr lang="en-US" baseline="0"/>
              <a:t> </a:t>
            </a:r>
            <a:r>
              <a:rPr lang="en-US"/>
              <a:t>Money spent per Hotel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2598.8000000000002</c:v>
                </c:pt>
                <c:pt idx="1">
                  <c:v>1021.4</c:v>
                </c:pt>
                <c:pt idx="2">
                  <c:v>831.8</c:v>
                </c:pt>
                <c:pt idx="3">
                  <c:v>479.9</c:v>
                </c:pt>
                <c:pt idx="4">
                  <c:v>640.20000000000005</c:v>
                </c:pt>
                <c:pt idx="5">
                  <c:v>618.20000000000005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Avg.</a:t>
            </a:r>
            <a:r>
              <a:rPr lang="en-US" baseline="0"/>
              <a:t> </a:t>
            </a:r>
            <a:r>
              <a:rPr lang="en-US"/>
              <a:t>Money spent per Night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3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634.79999999999995</c:v>
                </c:pt>
                <c:pt idx="1">
                  <c:v>316.39999999999998</c:v>
                </c:pt>
                <c:pt idx="2">
                  <c:v>166.9</c:v>
                </c:pt>
                <c:pt idx="3">
                  <c:v>367.1</c:v>
                </c:pt>
                <c:pt idx="4">
                  <c:v>411.5</c:v>
                </c:pt>
                <c:pt idx="5">
                  <c:v>830.3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E8-4A25-9365-4DF43D7E85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Avg Checked Bags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4 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0.6</c:v>
                </c:pt>
                <c:pt idx="1">
                  <c:v>0.9</c:v>
                </c:pt>
                <c:pt idx="2">
                  <c:v>0.1</c:v>
                </c:pt>
                <c:pt idx="3">
                  <c:v>0.5</c:v>
                </c:pt>
                <c:pt idx="4">
                  <c:v>0.6</c:v>
                </c:pt>
                <c:pt idx="5">
                  <c:v>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CC-4D77-8817-588C8530A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Money Spent per Flight €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Nights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Tabelle1!$A$2:$A$7</c:f>
              <c:strCache>
                <c:ptCount val="6"/>
                <c:pt idx="0">
                  <c:v>Group 2</c:v>
                </c:pt>
                <c:pt idx="1">
                  <c:v>Group 1</c:v>
                </c:pt>
                <c:pt idx="2">
                  <c:v>Group 2</c:v>
                </c:pt>
                <c:pt idx="3">
                  <c:v>Group 4 </c:v>
                </c:pt>
                <c:pt idx="4">
                  <c:v>Group 5</c:v>
                </c:pt>
                <c:pt idx="5">
                  <c:v>Group 6</c:v>
                </c:pt>
              </c:strCache>
            </c:strRef>
          </c:cat>
          <c:val>
            <c:numRef>
              <c:f>Tabelle1!$B$2:$B$7</c:f>
              <c:numCache>
                <c:formatCode>General</c:formatCode>
                <c:ptCount val="6"/>
                <c:pt idx="0">
                  <c:v>128.1</c:v>
                </c:pt>
                <c:pt idx="1">
                  <c:v>2058.1</c:v>
                </c:pt>
                <c:pt idx="2">
                  <c:v>367.1</c:v>
                </c:pt>
                <c:pt idx="3">
                  <c:v>419</c:v>
                </c:pt>
                <c:pt idx="4">
                  <c:v>427.3</c:v>
                </c:pt>
                <c:pt idx="5">
                  <c:v>433.7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CC-4D77-8817-588C8530A6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55513487"/>
        <c:axId val="1455516367"/>
      </c:barChart>
      <c:catAx>
        <c:axId val="14555134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6367"/>
        <c:crosses val="autoZero"/>
        <c:auto val="1"/>
        <c:lblAlgn val="ctr"/>
        <c:lblOffset val="100"/>
        <c:noMultiLvlLbl val="0"/>
      </c:catAx>
      <c:valAx>
        <c:axId val="14555163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4555134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7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8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10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1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30DCC-2231-DBB1-B509-24BDF319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9ABD2A1-153A-C367-0CEF-02D6C80F7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063E3-785E-E072-9C42-4FB51C441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64CD91-FFB8-E94A-B465-E16256413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8BA169-0D3E-2FD9-B275-854CEC69D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3199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1D8F56-AF42-A6D9-A761-5606BD3C3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D65DBE-40B9-B5A8-DD64-BA2BD7F7F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59660A-A085-FE4B-5AE0-D071F25F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5D692D-35AA-5155-E77E-CDEA3D58C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2F1C32-2C4B-C319-F6A2-4CA0D4AFD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05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5A3686-6C02-A06E-1BB3-022009DE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BBDDA30-CA58-16F9-3571-9EC7A08C76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EC73A3-47FE-0EEA-2AFD-08306470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BC66E8-D058-ABAF-86CC-26CAB8D3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3449AB-A1F2-0193-CB75-3A72904E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728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EFC44F-B778-33E2-1E27-4BEF24B2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E93E17-7480-FAFE-8000-ACD2179C4C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780F39-B564-F31F-F0E8-E9D2AA370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A490C1-D259-5E23-0E58-19F6BD145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CFE68E-D41B-EF17-2C5F-DB5689FA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AC6A4D-E1F0-1953-9C00-F88E2ED4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20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5CEA7C-EA21-6C91-2DA5-DD4A8D0AB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2DFA3C-80D8-F2DD-A0E1-907E35DA6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E4FDC5A-55B0-4F46-57E1-A4019AE80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C93EE58-1207-23CE-9A50-1DA83A5B7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834DA1-A6D2-5987-DCD0-458FE952BF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074D7E9-B637-F325-ABC7-BAF60476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4F2F918-62B0-2604-B8D6-FDE7EA36B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3D0B82-975E-506D-3E18-C60B821AD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29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859863-CE18-655D-4090-1B7AC7A7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C4ED6A7-8A2D-B655-191C-18ACC292A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79DEA-4761-D34C-D611-E15A07883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AE13733-BDDD-B349-C94F-BA3076D95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850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A93CBA8-5563-5CB1-12BC-3D311D5AF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C4E74E-601E-D8F2-BEA2-541B291A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1CB7875-6A7D-18FD-82B8-5F43E7E4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17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EBAAEE-967F-C335-708D-134FBB83C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8A4A6B-8005-6541-41D0-2FA356ECC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6AB8967-36F2-B08C-B57C-CF3923CE0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0CD7D7-69D5-E6AA-3A21-5F91B9927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F83B1A1-61E5-023E-C722-015A9AA0F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425C84-096C-5990-1C17-55EA3D6C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799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F2B552-444D-6E5A-6669-BA6E6AB1F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2F8EE7-64D3-F895-590A-F6F7F13417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DD49552-341D-84AC-4DDC-EC0AECCB0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D98D89-A4B7-4EF0-B190-0B592849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796011-DCD1-F614-9BF0-FA2840E7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8372FF-51C1-C5F7-27B9-722F7205F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340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E7510-12AC-F8B2-EF1D-96FFA83B7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3AA554D-87E4-86C9-2099-49F660F2E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74BF33-DC1C-E665-3826-784789B3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D3951F-9F94-928C-0B0C-73895D1E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41D7E3-D5D3-0D9C-638D-B23432305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2163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E19BFCB-3794-B8E1-E8C8-2498C23F4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A57140-F756-E02F-3841-3AD1A3CA7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36FD6C2-1A9F-E8FF-1122-23D44AF19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D70140-7F27-6392-703A-96DA12226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164BB68-1E8D-A50E-B0DC-7BCCA4717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502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2F22E55-CAE6-77A3-42EC-9514764D2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0259E2-C8FD-E792-A75E-87FABA06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E552DEB-D4E2-60AF-057B-0DCF3343A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8E57F0-7B06-4AB8-98C6-9BB480BDF978}" type="datetimeFigureOut">
              <a:rPr lang="de-DE" smtClean="0"/>
              <a:t>05.03.2026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B1AE48-C648-A6E4-02DD-1D9B9BCC9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2BF865-F50D-F354-966A-4E637E144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4B15B-A974-48EB-AE3C-505EB46993B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344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D03619-63BA-1EC7-2F19-2565C6C8B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de-DE" sz="8100"/>
              <a:t>Travel Tide </a:t>
            </a:r>
            <a:br>
              <a:rPr lang="de-DE" sz="8100"/>
            </a:br>
            <a:r>
              <a:rPr lang="de-DE" sz="8100"/>
              <a:t>Market Segmentation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C86353-AF72-D170-F3E1-7A426C366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837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2FBCC-59A8-4FFB-D35B-612F13E4B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12D023-BA0E-62E0-8031-A91EBFB41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C2F6D5D-BF0B-A7A1-D5A3-272B2A494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C5708D-BE65-F07A-EE3E-6F3B80392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6740FA1-6ECA-F278-82DC-1383759FC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de-DE" sz="7200"/>
              <a:t>Different Groups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8698D2-053D-F952-F695-0E01E69D0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GB" sz="2400" noProof="0" dirty="0"/>
              <a:t>Group 1 Long Distance </a:t>
            </a:r>
          </a:p>
          <a:p>
            <a:r>
              <a:rPr lang="en-GB" sz="2400" dirty="0"/>
              <a:t>Group 2 Undesirables </a:t>
            </a:r>
          </a:p>
          <a:p>
            <a:r>
              <a:rPr lang="en-GB" sz="2400" dirty="0"/>
              <a:t>Group 3 Long stays </a:t>
            </a:r>
          </a:p>
          <a:p>
            <a:r>
              <a:rPr lang="en-GB" sz="2400" dirty="0"/>
              <a:t>Group 4 </a:t>
            </a:r>
            <a:r>
              <a:rPr lang="en-GB" sz="2400" dirty="0" err="1"/>
              <a:t>Unremarkables</a:t>
            </a:r>
            <a:r>
              <a:rPr lang="en-GB" sz="2400" dirty="0"/>
              <a:t> </a:t>
            </a:r>
          </a:p>
          <a:p>
            <a:r>
              <a:rPr lang="en-GB" sz="2400" dirty="0"/>
              <a:t>Group 5 </a:t>
            </a:r>
            <a:r>
              <a:rPr lang="en-GB" sz="2400" dirty="0" err="1"/>
              <a:t>Indecisives</a:t>
            </a:r>
            <a:endParaRPr lang="en-GB" sz="2400" dirty="0"/>
          </a:p>
          <a:p>
            <a:r>
              <a:rPr lang="en-GB" sz="2400" dirty="0"/>
              <a:t>Group 6 Business travellers </a:t>
            </a:r>
          </a:p>
        </p:txBody>
      </p:sp>
    </p:spTree>
    <p:extLst>
      <p:ext uri="{BB962C8B-B14F-4D97-AF65-F5344CB8AC3E}">
        <p14:creationId xmlns:p14="http://schemas.microsoft.com/office/powerpoint/2010/main" val="401630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1918446-2E22-A4BF-6349-A046BCA44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Desirables/Long Distance Group 1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Rectangle 5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AD2118C8-A137-D204-3119-107FB691BD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572880"/>
              </p:ext>
            </p:extLst>
          </p:nvPr>
        </p:nvGraphicFramePr>
        <p:xfrm>
          <a:off x="5922492" y="666728"/>
          <a:ext cx="5536001" cy="5465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6327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3D69C4-0110-2890-7E72-B85550FD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8AE035-F1E6-6610-4CED-85A86B2C5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2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Desirables/Long Distance Group 1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08D70EE9-3C93-F0FB-DB25-BA3C7C18718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2720763"/>
              </p:ext>
            </p:extLst>
          </p:nvPr>
        </p:nvGraphicFramePr>
        <p:xfrm>
          <a:off x="5922492" y="666728"/>
          <a:ext cx="5536001" cy="5465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532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3D0C6B3-957D-E204-C348-31E9B4243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1948DF-06F6-4581-A3A1-1DA92B848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High value trips with long travel distances</a:t>
            </a:r>
          </a:p>
          <a:p>
            <a:r>
              <a:rPr lang="en-US" sz="2400" dirty="0"/>
              <a:t>Recommendation: Exclusive discount (alternative: free checked bags)</a:t>
            </a:r>
          </a:p>
          <a:p>
            <a:r>
              <a:rPr lang="en-US" sz="2400" dirty="0"/>
              <a:t>Goal: Increase loyalty and booking frequency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612102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FCA1745-3FEB-B07F-7C2A-9760C5DDE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en-GB" sz="5400" noProof="0"/>
              <a:t>Business travellers (Group6)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DDF57DA2-D8BC-C037-BB58-54E87220B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666896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5077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EBB0445-076A-1977-AB94-64EA61ABE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en-GB" sz="5400" noProof="0"/>
              <a:t>Business travellers (Group6)</a:t>
            </a:r>
            <a:endParaRPr lang="en-GB" sz="5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6CCF2F54-FA6C-3A3B-F492-54B54BFD32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14848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35348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63B7A2-0C5E-26C0-AF6C-4508FE796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F74338-D694-838F-4E52-B2C841129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en-GB" sz="5400" noProof="0"/>
              <a:t>Business travellers (Group6)</a:t>
            </a:r>
            <a:endParaRPr lang="en-GB" sz="5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E647DB07-A87A-5E11-E49D-5FBE5ADD4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4145260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0609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934A6-786B-B3DF-DCB9-C70B7941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58FC04-4749-8CC5-29A6-BC48A54FA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2DC7D7-87B9-0B1C-5667-BDCADE650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Frequent travelers focused on efficiency</a:t>
            </a:r>
          </a:p>
          <a:p>
            <a:r>
              <a:rPr lang="en-US" sz="2400" dirty="0"/>
              <a:t>Recommendation: 1 free hotel night with flight booking</a:t>
            </a:r>
          </a:p>
          <a:p>
            <a:r>
              <a:rPr lang="en-US" sz="2400" dirty="0"/>
              <a:t>Goal: Increase bundled bookings and cross-selling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0295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4FC764A-B8CB-79A2-DEF6-0F1ED2774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en-GB" sz="5400" noProof="0"/>
              <a:t>Indecisives (Group 5)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15FB361F-7DEA-2B27-E76F-B79440A07E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2936534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75328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512AE-F1CF-E293-993D-83042D2A5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2075467-E09B-ECAB-095A-BEC60B10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en-GB" sz="5400" noProof="0"/>
              <a:t>Indecisives (Group 5)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A9F21A7F-C80B-4A17-613C-B074C850B5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5210990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0143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9CC02D-EDE1-7A31-8765-4885A52EE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43C732-03D0-99AE-9716-CEA76653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205621-32B1-9613-4BC8-3933A6BE5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High browsing activity but low booking conversion</a:t>
            </a:r>
          </a:p>
          <a:p>
            <a:r>
              <a:rPr lang="de-DE" sz="2400" dirty="0" err="1"/>
              <a:t>Recommendation</a:t>
            </a:r>
            <a:r>
              <a:rPr lang="de-DE" sz="2400" dirty="0"/>
              <a:t>: Free </a:t>
            </a:r>
            <a:r>
              <a:rPr lang="de-DE" sz="2400" dirty="0" err="1"/>
              <a:t>cancellation</a:t>
            </a:r>
            <a:endParaRPr lang="de-DE" sz="2400" dirty="0"/>
          </a:p>
          <a:p>
            <a:r>
              <a:rPr lang="en-US" sz="2400" dirty="0"/>
              <a:t>Goal: Reduce booking risk and increase conversion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99291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0C7E91-3B38-DE8A-332D-D1AB9BAA0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de-DE" sz="5400"/>
              <a:t>Long stays (Group 3)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8A33A3C8-B7CE-4581-DDA3-1C4ACDCBF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545179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3503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2053A9-CF7E-768E-740C-B9D18F7CF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DCFA4C-2C9D-1811-7FE7-CC7249033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de-DE" sz="5400"/>
              <a:t>Long stays (Group 3)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E5AF0EE2-210C-F0A1-D315-D4AB2F980D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9927845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84671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C1133-552C-BB2B-993E-AE307969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ABB9E42-443C-6FEF-9F2B-B37F6D544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de-DE" sz="5400"/>
              <a:t>Long stays (Group 3)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8D6E678F-2061-2994-E5AD-D3DC7098A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346952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48118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49C1C-D565-D6A0-43D7-95FFD8FBF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85B3D8-1E85-4E55-9F6B-4DB259252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0D4AAD6-14CB-D6DA-386D-82989BD8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482631"/>
            <a:ext cx="3892732" cy="4199710"/>
          </a:xfrm>
        </p:spPr>
        <p:txBody>
          <a:bodyPr anchor="ctr">
            <a:normAutofit/>
          </a:bodyPr>
          <a:lstStyle/>
          <a:p>
            <a:r>
              <a:rPr lang="de-DE" sz="5400"/>
              <a:t>Long stays (Group 3)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783A96AD-0271-15CF-44D3-BC8095762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413587"/>
              </p:ext>
            </p:extLst>
          </p:nvPr>
        </p:nvGraphicFramePr>
        <p:xfrm>
          <a:off x="5970174" y="1294712"/>
          <a:ext cx="5451513" cy="4580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022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4C91B-E09A-88D0-59C5-B25D63F8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C72C7F-2E5E-5F16-6E81-BCCC5DDB0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0D47B9-4B3D-292C-1953-E380D41E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Users with longer hotel stays</a:t>
            </a:r>
          </a:p>
          <a:p>
            <a:r>
              <a:rPr lang="en-US" sz="2400" dirty="0"/>
              <a:t>Recommendation: Free hotel meal (alternative: exclusive discount)</a:t>
            </a:r>
          </a:p>
          <a:p>
            <a:r>
              <a:rPr lang="en-US" sz="2400" dirty="0"/>
              <a:t>Goal: Increase hotel booking value and satisfaction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262129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BA9B85E-3768-BDD1-5F04-C631EEED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Unremarkables (Group 4)</a:t>
            </a: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3F558DCE-1937-BBC7-44D9-4EB0E60A14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0042233"/>
              </p:ext>
            </p:extLst>
          </p:nvPr>
        </p:nvGraphicFramePr>
        <p:xfrm>
          <a:off x="5922492" y="666728"/>
          <a:ext cx="5536001" cy="5465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13415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E5EC96-1EE9-2B99-74EC-8AAB63B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22A93A-3C00-A101-CEA5-B9C23D889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7B3523-81F4-03E7-7242-FC1D4876A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Average booking behavior without strong patterns</a:t>
            </a:r>
          </a:p>
          <a:p>
            <a:r>
              <a:rPr lang="de-DE" sz="2400" dirty="0" err="1"/>
              <a:t>Recommendation</a:t>
            </a:r>
            <a:r>
              <a:rPr lang="de-DE" sz="2400" dirty="0"/>
              <a:t>: Free </a:t>
            </a:r>
            <a:r>
              <a:rPr lang="de-DE" sz="2400" dirty="0" err="1"/>
              <a:t>checked</a:t>
            </a:r>
            <a:r>
              <a:rPr lang="de-DE" sz="2400" dirty="0"/>
              <a:t> </a:t>
            </a:r>
            <a:r>
              <a:rPr lang="de-DE" sz="2400" dirty="0" err="1"/>
              <a:t>bags</a:t>
            </a:r>
            <a:endParaRPr lang="de-DE" sz="2400" dirty="0"/>
          </a:p>
          <a:p>
            <a:r>
              <a:rPr lang="en-US" sz="2400" dirty="0"/>
              <a:t>Goal: Improve booking experience and satisfaction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98916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5FA796-D90E-3051-5CCF-2CDE9444C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E85DC07-A65A-A418-5E7E-1CFA1F4A7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Undesirables/Opportunity bookers (Group 2)</a:t>
            </a: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0DCEF5E7-3916-532B-6EF5-4B422CE2E6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4269762"/>
              </p:ext>
            </p:extLst>
          </p:nvPr>
        </p:nvGraphicFramePr>
        <p:xfrm>
          <a:off x="5922492" y="666728"/>
          <a:ext cx="5536001" cy="54657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38941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6536EA-F25D-E6FB-2E11-665868E0E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8781DD2-0E99-70CB-9B6F-7BDF2C7A9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kern="1200" noProof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Undesirables/Opportunity bookers (Group 2)</a:t>
            </a:r>
            <a:r>
              <a:rPr lang="en-US" sz="2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ABF0C3C-43A3-CD8A-4AB3-7B958825C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255683"/>
              </p:ext>
            </p:extLst>
          </p:nvPr>
        </p:nvGraphicFramePr>
        <p:xfrm>
          <a:off x="6015718" y="666728"/>
          <a:ext cx="5349549" cy="5465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9658">
                  <a:extLst>
                    <a:ext uri="{9D8B030D-6E8A-4147-A177-3AD203B41FA5}">
                      <a16:colId xmlns:a16="http://schemas.microsoft.com/office/drawing/2014/main" val="3629084884"/>
                    </a:ext>
                  </a:extLst>
                </a:gridCol>
                <a:gridCol w="1379891">
                  <a:extLst>
                    <a:ext uri="{9D8B030D-6E8A-4147-A177-3AD203B41FA5}">
                      <a16:colId xmlns:a16="http://schemas.microsoft.com/office/drawing/2014/main" val="3800168567"/>
                    </a:ext>
                  </a:extLst>
                </a:gridCol>
              </a:tblGrid>
              <a:tr h="626289">
                <a:tc>
                  <a:txBody>
                    <a:bodyPr/>
                    <a:lstStyle/>
                    <a:p>
                      <a:r>
                        <a:rPr lang="en-GB" sz="2800"/>
                        <a:t>Feature</a:t>
                      </a:r>
                    </a:p>
                  </a:txBody>
                  <a:tcPr marL="142338" marR="142338" marT="71169" marB="71169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Place</a:t>
                      </a:r>
                    </a:p>
                  </a:txBody>
                  <a:tcPr marL="142338" marR="142338" marT="71169" marB="71169"/>
                </a:tc>
                <a:extLst>
                  <a:ext uri="{0D108BD9-81ED-4DB2-BD59-A6C34878D82A}">
                    <a16:rowId xmlns:a16="http://schemas.microsoft.com/office/drawing/2014/main" val="402726068"/>
                  </a:ext>
                </a:extLst>
              </a:tr>
              <a:tr h="1053304">
                <a:tc>
                  <a:txBody>
                    <a:bodyPr/>
                    <a:lstStyle/>
                    <a:p>
                      <a:r>
                        <a:rPr lang="en-GB" sz="2800"/>
                        <a:t>AVG Money Spent on Flights</a:t>
                      </a:r>
                    </a:p>
                  </a:txBody>
                  <a:tcPr marL="142338" marR="142338" marT="71169" marB="71169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6</a:t>
                      </a:r>
                      <a:r>
                        <a:rPr lang="en-GB" sz="2800" baseline="30000"/>
                        <a:t>th</a:t>
                      </a:r>
                      <a:endParaRPr lang="en-GB" sz="2800"/>
                    </a:p>
                  </a:txBody>
                  <a:tcPr marL="142338" marR="142338" marT="71169" marB="71169"/>
                </a:tc>
                <a:extLst>
                  <a:ext uri="{0D108BD9-81ED-4DB2-BD59-A6C34878D82A}">
                    <a16:rowId xmlns:a16="http://schemas.microsoft.com/office/drawing/2014/main" val="1367558395"/>
                  </a:ext>
                </a:extLst>
              </a:tr>
              <a:tr h="1053304">
                <a:tc>
                  <a:txBody>
                    <a:bodyPr/>
                    <a:lstStyle/>
                    <a:p>
                      <a:r>
                        <a:rPr lang="en-GB" sz="2800"/>
                        <a:t>Total Money Spent on Flights</a:t>
                      </a:r>
                    </a:p>
                  </a:txBody>
                  <a:tcPr marL="142338" marR="142338" marT="71169" marB="71169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6</a:t>
                      </a:r>
                      <a:r>
                        <a:rPr lang="en-GB" sz="2800" baseline="30000"/>
                        <a:t>th</a:t>
                      </a:r>
                      <a:endParaRPr lang="en-GB" sz="2800"/>
                    </a:p>
                  </a:txBody>
                  <a:tcPr marL="142338" marR="142338" marT="71169" marB="71169"/>
                </a:tc>
                <a:extLst>
                  <a:ext uri="{0D108BD9-81ED-4DB2-BD59-A6C34878D82A}">
                    <a16:rowId xmlns:a16="http://schemas.microsoft.com/office/drawing/2014/main" val="3098339021"/>
                  </a:ext>
                </a:extLst>
              </a:tr>
              <a:tr h="1053304">
                <a:tc>
                  <a:txBody>
                    <a:bodyPr/>
                    <a:lstStyle/>
                    <a:p>
                      <a:r>
                        <a:rPr lang="en-GB" sz="2800"/>
                        <a:t>AVG Money Spent on Hotels</a:t>
                      </a:r>
                    </a:p>
                  </a:txBody>
                  <a:tcPr marL="142338" marR="142338" marT="71169" marB="71169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5</a:t>
                      </a:r>
                      <a:r>
                        <a:rPr lang="en-GB" sz="2800" baseline="30000"/>
                        <a:t>th</a:t>
                      </a:r>
                      <a:r>
                        <a:rPr lang="en-GB" sz="2800"/>
                        <a:t> </a:t>
                      </a:r>
                    </a:p>
                  </a:txBody>
                  <a:tcPr marL="142338" marR="142338" marT="71169" marB="71169"/>
                </a:tc>
                <a:extLst>
                  <a:ext uri="{0D108BD9-81ED-4DB2-BD59-A6C34878D82A}">
                    <a16:rowId xmlns:a16="http://schemas.microsoft.com/office/drawing/2014/main" val="3252951112"/>
                  </a:ext>
                </a:extLst>
              </a:tr>
              <a:tr h="1053304">
                <a:tc>
                  <a:txBody>
                    <a:bodyPr/>
                    <a:lstStyle/>
                    <a:p>
                      <a:r>
                        <a:rPr lang="en-GB" sz="2800"/>
                        <a:t>Total Money Spent on Hotels</a:t>
                      </a:r>
                    </a:p>
                  </a:txBody>
                  <a:tcPr marL="142338" marR="142338" marT="71169" marB="71169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6</a:t>
                      </a:r>
                      <a:r>
                        <a:rPr lang="en-GB" sz="2800" baseline="30000"/>
                        <a:t>th</a:t>
                      </a:r>
                      <a:endParaRPr lang="en-GB" sz="2800"/>
                    </a:p>
                  </a:txBody>
                  <a:tcPr marL="142338" marR="142338" marT="71169" marB="71169"/>
                </a:tc>
                <a:extLst>
                  <a:ext uri="{0D108BD9-81ED-4DB2-BD59-A6C34878D82A}">
                    <a16:rowId xmlns:a16="http://schemas.microsoft.com/office/drawing/2014/main" val="419584500"/>
                  </a:ext>
                </a:extLst>
              </a:tr>
              <a:tr h="626289">
                <a:tc>
                  <a:txBody>
                    <a:bodyPr/>
                    <a:lstStyle/>
                    <a:p>
                      <a:r>
                        <a:rPr lang="en-GB" sz="2800"/>
                        <a:t>Bookings</a:t>
                      </a:r>
                    </a:p>
                  </a:txBody>
                  <a:tcPr marL="142338" marR="142338" marT="71169" marB="71169"/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6</a:t>
                      </a:r>
                      <a:r>
                        <a:rPr lang="en-GB" sz="2800" baseline="30000"/>
                        <a:t>th</a:t>
                      </a:r>
                      <a:endParaRPr lang="en-GB" sz="2800"/>
                    </a:p>
                  </a:txBody>
                  <a:tcPr marL="142338" marR="142338" marT="71169" marB="71169"/>
                </a:tc>
                <a:extLst>
                  <a:ext uri="{0D108BD9-81ED-4DB2-BD59-A6C34878D82A}">
                    <a16:rowId xmlns:a16="http://schemas.microsoft.com/office/drawing/2014/main" val="523926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53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486A0-E202-B5B6-8FA1-BDFCFC403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77C4A46-4EB0-615F-B251-1148E3DB8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GB" sz="7200"/>
              <a:t>Recommendations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F2FDDD-0580-3173-A728-69915022D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Highly price-sensitive and deal-driven users</a:t>
            </a:r>
            <a:endParaRPr lang="en-GB" sz="2400" noProof="0" dirty="0"/>
          </a:p>
          <a:p>
            <a:r>
              <a:rPr lang="en-GB" sz="2400" noProof="0" dirty="0"/>
              <a:t>3 Options </a:t>
            </a:r>
          </a:p>
          <a:p>
            <a:pPr lvl="1"/>
            <a:r>
              <a:rPr lang="en-GB" noProof="0" dirty="0"/>
              <a:t>Give them no Discount </a:t>
            </a:r>
          </a:p>
          <a:p>
            <a:pPr lvl="1"/>
            <a:r>
              <a:rPr lang="en-GB" noProof="0" dirty="0"/>
              <a:t>Give them the 1 Night Free + Hotel </a:t>
            </a:r>
          </a:p>
          <a:p>
            <a:pPr lvl="1"/>
            <a:r>
              <a:rPr lang="en-GB" noProof="0" dirty="0"/>
              <a:t>Free Cancellation</a:t>
            </a:r>
          </a:p>
          <a:p>
            <a:r>
              <a:rPr lang="en-US" sz="2400" dirty="0"/>
              <a:t>Goal: Identify most effective promotion strategy</a:t>
            </a:r>
            <a:r>
              <a:rPr lang="en-GB" sz="24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7085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41E83-D120-8C40-C09E-8C3FB6C31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2E666F2-0547-2A36-198E-84891BA0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de-DE" sz="7200" dirty="0"/>
              <a:t>Future Outlook</a:t>
            </a:r>
            <a:endParaRPr lang="en-GB" sz="72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6AF530-94AF-1BEE-8281-65C96235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 lvl="0"/>
            <a:r>
              <a:rPr lang="en-US" sz="2400" dirty="0"/>
              <a:t>Test recommended perks through A/B testing to validate their impact on booking conversion</a:t>
            </a:r>
            <a:endParaRPr lang="en-GB" sz="2400" dirty="0"/>
          </a:p>
          <a:p>
            <a:pPr lvl="0"/>
            <a:r>
              <a:rPr lang="en-US" sz="2400" dirty="0"/>
              <a:t>Continuously update the segmentation model with new user behavior data (Supervised Machine Learning)</a:t>
            </a:r>
            <a:endParaRPr lang="en-GB" sz="2400" dirty="0"/>
          </a:p>
          <a:p>
            <a:pPr lvl="0"/>
            <a:r>
              <a:rPr lang="en-US" sz="2400" dirty="0"/>
              <a:t>Integrate segmentation into personalized marketing and recommendation systems</a:t>
            </a:r>
          </a:p>
        </p:txBody>
      </p:sp>
    </p:spTree>
    <p:extLst>
      <p:ext uri="{BB962C8B-B14F-4D97-AF65-F5344CB8AC3E}">
        <p14:creationId xmlns:p14="http://schemas.microsoft.com/office/powerpoint/2010/main" val="104366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377</Words>
  <Application>Microsoft Office PowerPoint</Application>
  <PresentationFormat>Breitbild</PresentationFormat>
  <Paragraphs>78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</vt:lpstr>
      <vt:lpstr>Travel Tide  Market Segmentation</vt:lpstr>
      <vt:lpstr>Different Groups </vt:lpstr>
      <vt:lpstr>Desirables/Long Distance Group 1</vt:lpstr>
      <vt:lpstr>Desirables/Long Distance Group 1</vt:lpstr>
      <vt:lpstr>Recommendations</vt:lpstr>
      <vt:lpstr>Business travellers (Group6)</vt:lpstr>
      <vt:lpstr>Business travellers (Group6)</vt:lpstr>
      <vt:lpstr>Business travellers (Group6)</vt:lpstr>
      <vt:lpstr>Recommendations</vt:lpstr>
      <vt:lpstr>Indecisives (Group 5)</vt:lpstr>
      <vt:lpstr>Indecisives (Group 5)</vt:lpstr>
      <vt:lpstr>Recommendations</vt:lpstr>
      <vt:lpstr>Long stays (Group 3) </vt:lpstr>
      <vt:lpstr>Long stays (Group 3) </vt:lpstr>
      <vt:lpstr>Long stays (Group 3) </vt:lpstr>
      <vt:lpstr>Long stays (Group 3) </vt:lpstr>
      <vt:lpstr>Recommendations</vt:lpstr>
      <vt:lpstr>Unremarkables (Group 4) </vt:lpstr>
      <vt:lpstr>Recommendations</vt:lpstr>
      <vt:lpstr>Undesirables/Opportunity bookers (Group 2) </vt:lpstr>
      <vt:lpstr>Undesirables/Opportunity bookers (Group 2) </vt:lpstr>
      <vt:lpstr>Recommendations</vt:lpstr>
      <vt:lpstr>Future Outlook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Timmann</dc:creator>
  <cp:lastModifiedBy>Nicholas Timmann</cp:lastModifiedBy>
  <cp:revision>4</cp:revision>
  <dcterms:created xsi:type="dcterms:W3CDTF">2026-03-05T12:21:14Z</dcterms:created>
  <dcterms:modified xsi:type="dcterms:W3CDTF">2026-03-05T22:38:50Z</dcterms:modified>
</cp:coreProperties>
</file>