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59" r:id="rId7"/>
    <p:sldId id="264" r:id="rId8"/>
    <p:sldId id="266" r:id="rId9"/>
    <p:sldId id="277" r:id="rId10"/>
    <p:sldId id="260" r:id="rId11"/>
    <p:sldId id="267" r:id="rId12"/>
    <p:sldId id="278" r:id="rId13"/>
    <p:sldId id="261" r:id="rId14"/>
    <p:sldId id="268" r:id="rId15"/>
    <p:sldId id="269" r:id="rId16"/>
    <p:sldId id="270" r:id="rId17"/>
    <p:sldId id="280" r:id="rId18"/>
    <p:sldId id="263" r:id="rId19"/>
    <p:sldId id="282" r:id="rId20"/>
    <p:sldId id="273" r:id="rId21"/>
    <p:sldId id="272" r:id="rId22"/>
    <p:sldId id="284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</a:t>
            </a:r>
            <a:r>
              <a:rPr lang="en-US" baseline="0" dirty="0"/>
              <a:t> Money Spent per Flight €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1 </c:v>
                </c:pt>
                <c:pt idx="1">
                  <c:v>Group 2</c:v>
                </c:pt>
                <c:pt idx="2">
                  <c:v>Group 3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2058.1</c:v>
                </c:pt>
                <c:pt idx="1">
                  <c:v>128.1</c:v>
                </c:pt>
                <c:pt idx="2">
                  <c:v>367.1</c:v>
                </c:pt>
                <c:pt idx="3">
                  <c:v>419</c:v>
                </c:pt>
                <c:pt idx="4">
                  <c:v>427.3</c:v>
                </c:pt>
                <c:pt idx="5">
                  <c:v>433.7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A-4478-983F-B2E656AE6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</a:t>
            </a:r>
            <a:r>
              <a:rPr lang="en-US" baseline="0" dirty="0"/>
              <a:t> Money Spent €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1 </c:v>
                </c:pt>
                <c:pt idx="1">
                  <c:v>Group 2</c:v>
                </c:pt>
                <c:pt idx="2">
                  <c:v>Group 3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5690.5</c:v>
                </c:pt>
                <c:pt idx="1">
                  <c:v>941.8</c:v>
                </c:pt>
                <c:pt idx="2">
                  <c:v>6274.3</c:v>
                </c:pt>
                <c:pt idx="3">
                  <c:v>1878.3</c:v>
                </c:pt>
                <c:pt idx="4">
                  <c:v>2280.6</c:v>
                </c:pt>
                <c:pt idx="5">
                  <c:v>4461.8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A-4478-983F-B2E656AE6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Flights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6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5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7.8</c:v>
                </c:pt>
                <c:pt idx="1">
                  <c:v>3.6</c:v>
                </c:pt>
                <c:pt idx="2">
                  <c:v>0.3</c:v>
                </c:pt>
                <c:pt idx="3">
                  <c:v>2.6</c:v>
                </c:pt>
                <c:pt idx="4">
                  <c:v>3.9</c:v>
                </c:pt>
                <c:pt idx="5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9-4D48-8765-BD913DB1B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Hotels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6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5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4</c:v>
                </c:pt>
                <c:pt idx="1">
                  <c:v>1.5</c:v>
                </c:pt>
                <c:pt idx="2">
                  <c:v>1</c:v>
                </c:pt>
                <c:pt idx="3">
                  <c:v>2.2999999999999998</c:v>
                </c:pt>
                <c:pt idx="4">
                  <c:v>2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8-42E8-A08A-9D828F255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Bookings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6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5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4.5</c:v>
                </c:pt>
                <c:pt idx="1">
                  <c:v>2.1</c:v>
                </c:pt>
                <c:pt idx="2">
                  <c:v>0.5</c:v>
                </c:pt>
                <c:pt idx="3">
                  <c:v>2.5</c:v>
                </c:pt>
                <c:pt idx="4">
                  <c:v>2.2000000000000002</c:v>
                </c:pt>
                <c:pt idx="5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8-42E8-A08A-9D828F255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Cancelled Trips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5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0.1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9-45A7-94D7-C7196E734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Avg.</a:t>
            </a:r>
            <a:r>
              <a:rPr lang="en-US" baseline="0" dirty="0"/>
              <a:t> Session Duration Min.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5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244.9</c:v>
                </c:pt>
                <c:pt idx="1">
                  <c:v>107.5</c:v>
                </c:pt>
                <c:pt idx="2">
                  <c:v>95.9</c:v>
                </c:pt>
                <c:pt idx="3">
                  <c:v>107.2</c:v>
                </c:pt>
                <c:pt idx="4">
                  <c:v>109</c:v>
                </c:pt>
                <c:pt idx="5">
                  <c:v>139.6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9-45A7-94D7-C7196E734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 Nights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9.1</c:v>
                </c:pt>
                <c:pt idx="1">
                  <c:v>6.5</c:v>
                </c:pt>
                <c:pt idx="2">
                  <c:v>5.5</c:v>
                </c:pt>
                <c:pt idx="3">
                  <c:v>2.9</c:v>
                </c:pt>
                <c:pt idx="4">
                  <c:v>3.5</c:v>
                </c:pt>
                <c:pt idx="5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 Money spent per Hotel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5776.8</c:v>
                </c:pt>
                <c:pt idx="1">
                  <c:v>2056.5</c:v>
                </c:pt>
                <c:pt idx="2">
                  <c:v>918.1</c:v>
                </c:pt>
                <c:pt idx="3">
                  <c:v>1064.5999999999999</c:v>
                </c:pt>
                <c:pt idx="4">
                  <c:v>1440.1</c:v>
                </c:pt>
                <c:pt idx="5">
                  <c:v>2740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</a:t>
            </a:r>
            <a:r>
              <a:rPr lang="en-US" baseline="0" dirty="0"/>
              <a:t> </a:t>
            </a:r>
            <a:r>
              <a:rPr lang="en-US" dirty="0"/>
              <a:t>Money spent per Hotel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2598.8000000000002</c:v>
                </c:pt>
                <c:pt idx="1">
                  <c:v>1021.4</c:v>
                </c:pt>
                <c:pt idx="2">
                  <c:v>831.8</c:v>
                </c:pt>
                <c:pt idx="3">
                  <c:v>479.9</c:v>
                </c:pt>
                <c:pt idx="4">
                  <c:v>640.20000000000005</c:v>
                </c:pt>
                <c:pt idx="5">
                  <c:v>618.20000000000005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Avg.</a:t>
            </a:r>
            <a:r>
              <a:rPr lang="en-US" baseline="0" dirty="0"/>
              <a:t> </a:t>
            </a:r>
            <a:r>
              <a:rPr lang="en-US" dirty="0"/>
              <a:t>Money spent per Night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634.79999999999995</c:v>
                </c:pt>
                <c:pt idx="1">
                  <c:v>316.39999999999998</c:v>
                </c:pt>
                <c:pt idx="2">
                  <c:v>166.9</c:v>
                </c:pt>
                <c:pt idx="3">
                  <c:v>367.1</c:v>
                </c:pt>
                <c:pt idx="4">
                  <c:v>411.5</c:v>
                </c:pt>
                <c:pt idx="5">
                  <c:v>830.3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 Checked Bags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4 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0.6</c:v>
                </c:pt>
                <c:pt idx="1">
                  <c:v>0.9</c:v>
                </c:pt>
                <c:pt idx="2">
                  <c:v>0.1</c:v>
                </c:pt>
                <c:pt idx="3">
                  <c:v>0.5</c:v>
                </c:pt>
                <c:pt idx="4">
                  <c:v>0.6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CC-4D77-8817-588C8530A6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Money Spent per Flight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2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128.1</c:v>
                </c:pt>
                <c:pt idx="1">
                  <c:v>2058.1</c:v>
                </c:pt>
                <c:pt idx="2">
                  <c:v>367.1</c:v>
                </c:pt>
                <c:pt idx="3">
                  <c:v>419</c:v>
                </c:pt>
                <c:pt idx="4">
                  <c:v>427.3</c:v>
                </c:pt>
                <c:pt idx="5">
                  <c:v>433.7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CC-4D77-8817-588C8530A6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30DCC-2231-DBB1-B509-24BDF319A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ABD2A1-153A-C367-0CEF-02D6C80F7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063E3-785E-E072-9C42-4FB51C44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64CD91-FFB8-E94A-B465-E16256413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8BA169-0D3E-2FD9-B275-854CEC69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19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1D8F56-AF42-A6D9-A761-5606BD3C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D65DBE-40B9-B5A8-DD64-BA2BD7F7F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59660A-A085-FE4B-5AE0-D071F25F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5D692D-35AA-5155-E77E-CDEA3D58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2F1C32-2C4B-C319-F6A2-4CA0D4AF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05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A3686-6C02-A06E-1BB3-022009DE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BDDA30-CA58-16F9-3571-9EC7A08C7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EC73A3-47FE-0EEA-2AFD-08306470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BC66E8-D058-ABAF-86CC-26CAB8D3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3449AB-A1F2-0193-CB75-3A72904E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72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FC44F-B778-33E2-1E27-4BEF24B2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E93E17-7480-FAFE-8000-ACD2179C4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780F39-B564-F31F-F0E8-E9D2AA370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A490C1-D259-5E23-0E58-19F6BD14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CFE68E-D41B-EF17-2C5F-DB5689FA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AC6A4D-E1F0-1953-9C00-F88E2ED4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204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5CEA7C-EA21-6C91-2DA5-DD4A8D0A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2DFA3C-80D8-F2DD-A0E1-907E35DA6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4FDC5A-55B0-4F46-57E1-A4019AE80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93EE58-1207-23CE-9A50-1DA83A5B7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834DA1-A6D2-5987-DCD0-458FE952B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074D7E9-B637-F325-ABC7-BAF60476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F2F918-62B0-2604-B8D6-FDE7EA36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3D0B82-975E-506D-3E18-C60B821A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29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859863-CE18-655D-4090-1B7AC7A7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4ED6A7-8A2D-B655-191C-18ACC292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79DEA-4761-D34C-D611-E15A0788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E13733-BDDD-B349-C94F-BA3076D9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85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A93CBA8-5563-5CB1-12BC-3D311D5A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C4E74E-601E-D8F2-BEA2-541B291A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CB7875-6A7D-18FD-82B8-5F43E7E4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17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EBAAEE-967F-C335-708D-134FBB83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8A4A6B-8005-6541-41D0-2FA356ECC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AB8967-36F2-B08C-B57C-CF3923CE0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0CD7D7-69D5-E6AA-3A21-5F91B992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83B1A1-61E5-023E-C722-015A9AA0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425C84-096C-5990-1C17-55EA3D6C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9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F2B552-444D-6E5A-6669-BA6E6AB1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2F8EE7-64D3-F895-590A-F6F7F1341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D49552-341D-84AC-4DDC-EC0AECCB0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D98D89-A4B7-4EF0-B190-0B592849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796011-DCD1-F614-9BF0-FA2840E7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8372FF-51C1-C5F7-27B9-722F7205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34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E7510-12AC-F8B2-EF1D-96FFA83B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AA554D-87E4-86C9-2099-49F660F2E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74BF33-DC1C-E665-3826-784789B3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D3951F-9F94-928C-0B0C-73895D1E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41D7E3-D5D3-0D9C-638D-B2343230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216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19BFCB-3794-B8E1-E8C8-2498C23F4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A57140-F756-E02F-3841-3AD1A3CA7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6FD6C2-1A9F-E8FF-1122-23D44AF1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D70140-7F27-6392-703A-96DA1222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64BB68-1E8D-A50E-B0DC-7BCCA471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50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2F22E55-CAE6-77A3-42EC-9514764D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0259E2-C8FD-E792-A75E-87FABA06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552DEB-D4E2-60AF-057B-0DCF3343A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B1AE48-C648-A6E4-02DD-1D9B9BCC9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2BF865-F50D-F354-966A-4E637E144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449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03619-63BA-1EC7-2F19-2565C6C8B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Travel Tide </a:t>
            </a:r>
            <a:br>
              <a:rPr lang="de-DE" dirty="0"/>
            </a:br>
            <a:r>
              <a:rPr lang="de-DE" dirty="0"/>
              <a:t>Market Segmentation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C86353-AF72-D170-F3E1-7A426C3662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83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038BE-C667-FD3C-3DAE-42BE9A64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Different Groups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FB1472-C6A0-8253-DF6A-E11060375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Group 1 Long Distance </a:t>
            </a:r>
          </a:p>
          <a:p>
            <a:r>
              <a:rPr lang="en-GB" noProof="0" dirty="0"/>
              <a:t>Group 6 Business travellers </a:t>
            </a:r>
          </a:p>
          <a:p>
            <a:r>
              <a:rPr lang="en-GB" noProof="0" dirty="0"/>
              <a:t>Group 5 Indecisives</a:t>
            </a:r>
          </a:p>
          <a:p>
            <a:r>
              <a:rPr lang="en-GB" noProof="0" dirty="0"/>
              <a:t>Group 2 Undesirables </a:t>
            </a:r>
          </a:p>
          <a:p>
            <a:r>
              <a:rPr lang="en-GB" noProof="0" dirty="0"/>
              <a:t>Group 3 Long stays </a:t>
            </a:r>
          </a:p>
          <a:p>
            <a:r>
              <a:rPr lang="en-GB" noProof="0" dirty="0"/>
              <a:t>Group 4 </a:t>
            </a:r>
            <a:r>
              <a:rPr lang="en-GB" noProof="0" dirty="0" err="1"/>
              <a:t>Unremarkables</a:t>
            </a:r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346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18446-2E22-A4BF-6349-A046BCA4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Desirables/Long Distance Group 1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AD2118C8-A137-D204-3119-107FB691BD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2341629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327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D69C4-0110-2890-7E72-B85550FD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AE035-F1E6-6610-4CED-85A86B2C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Desirables/Long Distance Group 1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08D70EE9-3C93-F0FB-DB25-BA3C7C1871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57519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532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D0C6B3-957D-E204-C348-31E9B424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1948DF-06F6-4581-A3A1-1DA92B84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Exclusive Discount </a:t>
            </a:r>
          </a:p>
          <a:p>
            <a:endParaRPr lang="en-GB" dirty="0"/>
          </a:p>
          <a:p>
            <a:r>
              <a:rPr lang="en-GB" dirty="0"/>
              <a:t>Alternative : Free Checked Bags </a:t>
            </a:r>
          </a:p>
        </p:txBody>
      </p:sp>
    </p:spTree>
    <p:extLst>
      <p:ext uri="{BB962C8B-B14F-4D97-AF65-F5344CB8AC3E}">
        <p14:creationId xmlns:p14="http://schemas.microsoft.com/office/powerpoint/2010/main" val="1612102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CA1745-3FEB-B07F-7C2A-9760C5DD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Business travellers (Group6)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DDF57DA2-D8BC-C037-BB58-54E87220B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3948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077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BB0445-076A-1977-AB94-64EA61AB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Business travellers (Group6)</a:t>
            </a:r>
            <a:endParaRPr lang="en-GB" dirty="0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6CCF2F54-FA6C-3A3B-F492-54B54BFD3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7732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534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B7A2-0C5E-26C0-AF6C-4508FE79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74338-D694-838F-4E52-B2C84112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Business travellers (Group6)</a:t>
            </a:r>
            <a:endParaRPr lang="en-GB" dirty="0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E647DB07-A87A-5E11-E49D-5FBE5ADD4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2420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0609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934A6-786B-B3DF-DCB9-C70B79412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58FC04-4749-8CC5-29A6-BC48A54F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2DC7D7-87B9-0B1C-5667-BDCADE650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1 Night Free + Hotel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29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C764A-B8CB-79A2-DEF6-0F1ED277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Indecisives (Group 5)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15FB361F-7DEA-2B27-E76F-B79440A07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8118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532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12AE-F1CF-E293-993D-83042D2A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75467-E09B-ECAB-095A-BEC60B10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Indecisives (Group 5)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A9F21A7F-C80B-4A17-613C-B074C850B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7105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0143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C02D-EDE1-7A31-8765-4885A52E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3C732-03D0-99AE-9716-CEA76653C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205621-32B1-9613-4BC8-3933A6BE5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Free </a:t>
            </a:r>
            <a:r>
              <a:rPr lang="de-DE" dirty="0" err="1"/>
              <a:t>Cancellation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2913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C7E91-3B38-DE8A-332D-D1AB9BAA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Long </a:t>
            </a:r>
            <a:r>
              <a:rPr lang="de-DE" dirty="0" err="1"/>
              <a:t>stays</a:t>
            </a:r>
            <a:r>
              <a:rPr lang="de-DE" dirty="0"/>
              <a:t> (Group 3) 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8A33A3C8-B7CE-4581-DDA3-1C4ACDCBF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0642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3503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53A9-CF7E-768E-740C-B9D18F7C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DCFA4C-2C9D-1811-7FE7-CC724903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Long </a:t>
            </a:r>
            <a:r>
              <a:rPr lang="de-DE" dirty="0" err="1"/>
              <a:t>stays</a:t>
            </a:r>
            <a:r>
              <a:rPr lang="de-DE" dirty="0"/>
              <a:t> (Group 3) 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E5AF0EE2-210C-F0A1-D315-D4AB2F980D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9704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84671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1133-552C-BB2B-993E-AE307969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B9E42-443C-6FEF-9F2B-B37F6D544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Long </a:t>
            </a:r>
            <a:r>
              <a:rPr lang="de-DE" dirty="0" err="1"/>
              <a:t>stays</a:t>
            </a:r>
            <a:r>
              <a:rPr lang="de-DE" dirty="0"/>
              <a:t> (Group 3) 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8D6E678F-2061-2994-E5AD-D3DC7098A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9017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811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9C1C-D565-D6A0-43D7-95FFD8FB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4AAD6-14CB-D6DA-386D-82989BD8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Long </a:t>
            </a:r>
            <a:r>
              <a:rPr lang="de-DE" dirty="0" err="1"/>
              <a:t>stays</a:t>
            </a:r>
            <a:r>
              <a:rPr lang="de-DE" dirty="0"/>
              <a:t> (Group 3) 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783A96AD-0271-15CF-44D3-BC8095762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03045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022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C91B-E09A-88D0-59C5-B25D63F8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72C7F-2E5E-5F16-6E81-BCCC5DDB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0D47B9-4B3D-292C-1953-E380D41E1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Free Hotel Meal</a:t>
            </a:r>
          </a:p>
          <a:p>
            <a:r>
              <a:rPr lang="de-DE" dirty="0"/>
              <a:t>Alternative: </a:t>
            </a:r>
            <a:r>
              <a:rPr lang="de-DE" dirty="0" err="1"/>
              <a:t>Exclusive</a:t>
            </a:r>
            <a:r>
              <a:rPr lang="de-DE" dirty="0"/>
              <a:t> Discount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129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9B85E-3768-BDD1-5F04-C631EEED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Unremarkables</a:t>
            </a:r>
            <a:r>
              <a:rPr lang="en-GB" noProof="0" dirty="0"/>
              <a:t> (Group 4)</a:t>
            </a:r>
            <a:r>
              <a:rPr lang="de-DE" dirty="0"/>
              <a:t> 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3F558DCE-1937-BBC7-44D9-4EB0E60A1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0363046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3415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EC96-1EE9-2B99-74EC-8AAB63B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22A93A-3C00-A101-CEA5-B9C23D88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7B3523-81F4-03E7-7242-FC1D4876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Free </a:t>
            </a:r>
            <a:r>
              <a:rPr lang="de-DE" dirty="0" err="1"/>
              <a:t>Checked</a:t>
            </a:r>
            <a:r>
              <a:rPr lang="de-DE" dirty="0"/>
              <a:t> Bags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9165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A796-D90E-3051-5CCF-2CDE9444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5DC07-A65A-A418-5E7E-1CFA1F4A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Undesirables/Opportunity bookers (Group 2)</a:t>
            </a:r>
            <a:r>
              <a:rPr lang="de-DE" dirty="0"/>
              <a:t> 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0DCEF5E7-3916-532B-6EF5-4B422CE2E6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704038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3894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36EA-F25D-E6FB-2E11-665868E0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81DD2-0E99-70CB-9B6F-7BDF2C7A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Undesirables/Opportunity bookers (Group 2)</a:t>
            </a:r>
            <a:r>
              <a:rPr lang="de-DE" dirty="0"/>
              <a:t> 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ABF0C3C-43A3-CD8A-4AB3-7B958825C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664157"/>
              </p:ext>
            </p:extLst>
          </p:nvPr>
        </p:nvGraphicFramePr>
        <p:xfrm>
          <a:off x="1264227" y="1984663"/>
          <a:ext cx="9663546" cy="345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1773">
                  <a:extLst>
                    <a:ext uri="{9D8B030D-6E8A-4147-A177-3AD203B41FA5}">
                      <a16:colId xmlns:a16="http://schemas.microsoft.com/office/drawing/2014/main" val="3629084884"/>
                    </a:ext>
                  </a:extLst>
                </a:gridCol>
                <a:gridCol w="4831773">
                  <a:extLst>
                    <a:ext uri="{9D8B030D-6E8A-4147-A177-3AD203B41FA5}">
                      <a16:colId xmlns:a16="http://schemas.microsoft.com/office/drawing/2014/main" val="3800168567"/>
                    </a:ext>
                  </a:extLst>
                </a:gridCol>
              </a:tblGrid>
              <a:tr h="575644">
                <a:tc>
                  <a:txBody>
                    <a:bodyPr/>
                    <a:lstStyle/>
                    <a:p>
                      <a:r>
                        <a:rPr lang="en-GB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26068"/>
                  </a:ext>
                </a:extLst>
              </a:tr>
              <a:tr h="575644">
                <a:tc>
                  <a:txBody>
                    <a:bodyPr/>
                    <a:lstStyle/>
                    <a:p>
                      <a:r>
                        <a:rPr lang="en-GB" dirty="0"/>
                        <a:t>AVG Money Spent on 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r>
                        <a:rPr lang="en-GB" baseline="30000" dirty="0"/>
                        <a:t>th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558395"/>
                  </a:ext>
                </a:extLst>
              </a:tr>
              <a:tr h="575644">
                <a:tc>
                  <a:txBody>
                    <a:bodyPr/>
                    <a:lstStyle/>
                    <a:p>
                      <a:r>
                        <a:rPr lang="en-GB" dirty="0"/>
                        <a:t>Total Money Spent on 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r>
                        <a:rPr lang="en-GB" baseline="30000" dirty="0"/>
                        <a:t>th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39021"/>
                  </a:ext>
                </a:extLst>
              </a:tr>
              <a:tr h="575644">
                <a:tc>
                  <a:txBody>
                    <a:bodyPr/>
                    <a:lstStyle/>
                    <a:p>
                      <a:r>
                        <a:rPr lang="en-GB" dirty="0"/>
                        <a:t>AVG Money Spent on Hotels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r>
                        <a:rPr lang="en-GB" baseline="30000" dirty="0"/>
                        <a:t>th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951112"/>
                  </a:ext>
                </a:extLst>
              </a:tr>
              <a:tr h="575644">
                <a:tc>
                  <a:txBody>
                    <a:bodyPr/>
                    <a:lstStyle/>
                    <a:p>
                      <a:r>
                        <a:rPr lang="en-GB" dirty="0"/>
                        <a:t>Total Money Spent on Hotels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r>
                        <a:rPr lang="en-GB" baseline="30000" dirty="0"/>
                        <a:t>th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84500"/>
                  </a:ext>
                </a:extLst>
              </a:tr>
              <a:tr h="575644">
                <a:tc>
                  <a:txBody>
                    <a:bodyPr/>
                    <a:lstStyle/>
                    <a:p>
                      <a:r>
                        <a:rPr lang="en-GB" dirty="0"/>
                        <a:t>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r>
                        <a:rPr lang="en-GB" baseline="30000" dirty="0"/>
                        <a:t>th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926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53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86A0-E202-B5B6-8FA1-BDFCFC40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C4A46-4EB0-615F-B251-1148E3DB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F2FDDD-0580-3173-A728-69915022D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3 Options </a:t>
            </a:r>
          </a:p>
          <a:p>
            <a:pPr lvl="1"/>
            <a:r>
              <a:rPr lang="en-GB" noProof="0" dirty="0"/>
              <a:t>Give them no Discount </a:t>
            </a:r>
          </a:p>
          <a:p>
            <a:pPr lvl="1"/>
            <a:r>
              <a:rPr lang="en-GB" noProof="0" dirty="0"/>
              <a:t>Give them the 1 Night Free + Hotel </a:t>
            </a:r>
          </a:p>
          <a:p>
            <a:pPr lvl="1"/>
            <a:r>
              <a:rPr lang="en-GB" noProof="0" dirty="0"/>
              <a:t>Free Cancellation </a:t>
            </a:r>
          </a:p>
        </p:txBody>
      </p:sp>
    </p:spTree>
    <p:extLst>
      <p:ext uri="{BB962C8B-B14F-4D97-AF65-F5344CB8AC3E}">
        <p14:creationId xmlns:p14="http://schemas.microsoft.com/office/powerpoint/2010/main" val="361708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Breitbild</PresentationFormat>
  <Paragraphs>65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</vt:lpstr>
      <vt:lpstr>Travel Tide  Market Segmentation</vt:lpstr>
      <vt:lpstr>Different Groups </vt:lpstr>
      <vt:lpstr>Desirables/Long Distance Group 1</vt:lpstr>
      <vt:lpstr>Desirables/Long Distance Group 1</vt:lpstr>
      <vt:lpstr>Recommendations</vt:lpstr>
      <vt:lpstr>Business travellers (Group6)</vt:lpstr>
      <vt:lpstr>Business travellers (Group6)</vt:lpstr>
      <vt:lpstr>Business travellers (Group6)</vt:lpstr>
      <vt:lpstr>Recommendations</vt:lpstr>
      <vt:lpstr>Indecisives (Group 5)</vt:lpstr>
      <vt:lpstr>Indecisives (Group 5)</vt:lpstr>
      <vt:lpstr>Recommendations</vt:lpstr>
      <vt:lpstr>Long stays (Group 3) </vt:lpstr>
      <vt:lpstr>Long stays (Group 3) </vt:lpstr>
      <vt:lpstr>Long stays (Group 3) </vt:lpstr>
      <vt:lpstr>Long stays (Group 3) </vt:lpstr>
      <vt:lpstr>Recommendations</vt:lpstr>
      <vt:lpstr>Unremarkables (Group 4) </vt:lpstr>
      <vt:lpstr>Recommendations</vt:lpstr>
      <vt:lpstr>Undesirables/Opportunity bookers (Group 2) </vt:lpstr>
      <vt:lpstr>Undesirables/Opportunity bookers (Group 2) 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Timmann</dc:creator>
  <cp:lastModifiedBy>Nicholas Timmann</cp:lastModifiedBy>
  <cp:revision>1</cp:revision>
  <dcterms:created xsi:type="dcterms:W3CDTF">2026-03-05T12:21:14Z</dcterms:created>
  <dcterms:modified xsi:type="dcterms:W3CDTF">2026-03-05T15:22:53Z</dcterms:modified>
</cp:coreProperties>
</file>